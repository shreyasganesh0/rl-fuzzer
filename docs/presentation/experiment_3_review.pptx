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Coverage (edges)</c:v>
                </c:pt>
              </c:strCache>
            </c:strRef>
          </c:tx>
          <c:dPt>
            <c:idx val="0"/>
            <c:spPr>
              <a:solidFill>
                <a:srgbClr val="00B4D8"/>
              </a:solidFill>
            </c:spPr>
          </c:dPt>
          <c:dPt>
            <c:idx val="1"/>
            <c:spPr>
              <a:solidFill>
                <a:srgbClr val="FFD166"/>
              </a:solidFill>
            </c:spPr>
          </c:dPt>
          <c:dPt>
            <c:idx val="2"/>
            <c:spPr>
              <a:solidFill>
                <a:srgbClr val="90E0EF"/>
              </a:solidFill>
            </c:spPr>
          </c:dPt>
          <c:dPt>
            <c:idx val="3"/>
            <c:spPr>
              <a:solidFill>
                <a:srgbClr val="EF476F"/>
              </a:solidFill>
            </c:spPr>
          </c:dPt>
          <c:cat>
            <c:strRef>
              <c:f>Sheet1!$A$2:$A$5</c:f>
              <c:strCache>
                <c:ptCount val="4"/>
                <c:pt idx="0">
                  <c:v>M3_0
DQN</c:v>
                </c:pt>
                <c:pt idx="1">
                  <c:v>M3_0
Bandit</c:v>
                </c:pt>
                <c:pt idx="2">
                  <c:v>M1_0</c:v>
                </c:pt>
                <c:pt idx="3">
                  <c:v>Baseline
AFL++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3957</c:v>
                </c:pt>
                <c:pt idx="1">
                  <c:v>3651</c:v>
                </c:pt>
                <c:pt idx="2">
                  <c:v>3586</c:v>
                </c:pt>
                <c:pt idx="3">
                  <c:v>4250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3200.0"/>
        </c:scaling>
        <c:delete val="0"/>
        <c:axPos val="l"/>
        <c:majorGridlines>
          <c:spPr>
            <a:ln>
              <a:solidFill>
                <a:srgbClr val="333355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Coverage (edges)</c:v>
                </c:pt>
              </c:strCache>
            </c:strRef>
          </c:tx>
          <c:dPt>
            <c:idx val="0"/>
            <c:spPr>
              <a:solidFill>
                <a:srgbClr val="00B4D8"/>
              </a:solidFill>
            </c:spPr>
          </c:dPt>
          <c:dPt>
            <c:idx val="1"/>
            <c:spPr>
              <a:solidFill>
                <a:srgbClr val="FFD166"/>
              </a:solidFill>
            </c:spPr>
          </c:dPt>
          <c:dPt>
            <c:idx val="2"/>
            <c:spPr>
              <a:solidFill>
                <a:srgbClr val="90E0EF"/>
              </a:solidFill>
            </c:spPr>
          </c:dPt>
          <c:dPt>
            <c:idx val="3"/>
            <c:spPr>
              <a:solidFill>
                <a:srgbClr val="EF476F"/>
              </a:solidFill>
            </c:spPr>
          </c:dPt>
          <c:cat>
            <c:strRef>
              <c:f>Sheet1!$A$2:$A$5</c:f>
              <c:strCache>
                <c:ptCount val="4"/>
                <c:pt idx="0">
                  <c:v>M3_0
DQN</c:v>
                </c:pt>
                <c:pt idx="1">
                  <c:v>M3_0
Bandit</c:v>
                </c:pt>
                <c:pt idx="2">
                  <c:v>M1_0</c:v>
                </c:pt>
                <c:pt idx="3">
                  <c:v>Baseline
AFL++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3899</c:v>
                </c:pt>
                <c:pt idx="1">
                  <c:v>3598</c:v>
                </c:pt>
                <c:pt idx="2">
                  <c:v>3567</c:v>
                </c:pt>
                <c:pt idx="3">
                  <c:v>4174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3200.0"/>
        </c:scaling>
        <c:delete val="0"/>
        <c:axPos val="l"/>
        <c:majorGridlines>
          <c:spPr>
            <a:ln>
              <a:solidFill>
                <a:srgbClr val="333355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Experiment 3: Differential-Informed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Calibri"/>
              </a:defRPr>
            </a:pPr>
            <a:r>
              <a:t>RL-Guided Fuzzing (Model M3_0)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Calibri"/>
              </a:defRPr>
            </a:pPr>
            <a:r>
              <a:t>Weekly Review  |  April 4,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Shreyas Ganesh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1.  Motivation &amp; Research Question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2.  Experiment Design (Differential Fuzzing Pipeline)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3.  Phase 1-2: Target Construction &amp; Telemetry Collection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4.  Phase 3: Differential Analysis &amp; Feature Derivation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5.  Phase 4: M3_0 Implementation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6.  Phase 5: Training &amp; Evaluation Protocol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7.  Results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8.  Analysis &amp; Discussion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9.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Calibri"/>
              </a:defRPr>
            </a:pPr>
            <a:r>
              <a:t>Why differential-informed features?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The Problem: State Representation for RL Fuzzing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Prior RL models used hand-designed features: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M0_0: 3 dims (coverage, new_edges, crashes) — too sparse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M1_0: 12 dims (edge stability distribution) — intuition-based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M1_1: 13 dims (visited-edge tracking) — high overhead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EF476F"/>
                </a:solidFill>
                <a:latin typeface="Calibri"/>
              </a:defRPr>
            </a:pPr>
            <a:r>
              <a:t>Core weakness: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No empirical evidence these features correlate with bug-finding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All designed by intuition about what "should" matter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6D6A0"/>
                </a:solidFill>
                <a:latin typeface="Calibri"/>
              </a:defRPr>
            </a:pPr>
            <a:r>
              <a:t>The differential insight: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Fuzz buggy vs. fixed versions of the same software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Measure which execution metrics actually diverge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Use those as the RL state representation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459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Dims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Feature Source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Validated?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M0_0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M1_0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M1_1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Differential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RQ1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Can RL features derived from differential analysis outperform</a:t>
            </a:r>
            <a:br/>
            <a:r>
              <a:t>hand-designed features for mutation selection?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RQ2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Do differential features transfer to unseen targets</a:t>
            </a:r>
            <a:br/>
            <a:r>
              <a:t>(different CVE, same codebase)?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RQ3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DQN vs. contextual bandit — which learns better policies</a:t>
            </a:r>
            <a:br/>
            <a:r>
              <a:t>from these features?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RQ4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What is the current gap between RL-guided and vanilla AFL++,</a:t>
            </a:r>
            <a:br/>
            <a:r>
              <a:t>and what causes it?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Calibri"/>
              </a:defRPr>
            </a:pPr>
            <a:r>
              <a:t>5-phase differential fuzzing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AFL++ + Custom Mutator + RL Server via Shared Memory IPC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Consolas"/>
              </a:defRPr>
            </a:pPr>
            <a:r>
              <a:t>┌──────────────────┐     mmap'd SHM (128 bytes)     ┌──────────────────┐</a:t>
            </a:r>
            <a:br/>
            <a:r>
              <a:t>│   AFL++ Fuzzer    │ ◄──────────────────────────────► │  RL Server (Py)   │</a:t>
            </a:r>
            <a:br/>
            <a:r>
              <a:t>│  + Custom Mutator  │  13 features → action (0–46)   │  DQN / Bandit      │</a:t>
            </a:r>
            <a:br/>
            <a:r>
              <a:t>│    (.so plugin)    │  lock-free atomic protocol    │  [128,128,64] net  │</a:t>
            </a:r>
            <a:br/>
            <a:r>
              <a:t>└──────────────────┘                                └──────────────────┘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Mutator (C, ~480 lines):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Computes 13 features per execution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Cumulative bitmap (max-merge of trace_bits)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Edge heat, entropy, timing, velocity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Writes state, waits for action via atomic SHM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474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RL Server (Python):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Reads 13-dim state, selects from 47 mutations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DQN: Double DQN, ε-greedy, replay buffer 100K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Bandit: Thompson sampling, 2-head network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Reward: new_edges + 10 × crashes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5-Phase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2148840" cy="3840480"/>
          </a:xfrm>
          <a:prstGeom prst="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737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031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Build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3017520"/>
            <a:ext cx="1874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4 libxml2 binaries</a:t>
            </a:r>
            <a:br/>
            <a:r>
              <a:t>(2 CVEs × buggy/fixed)</a:t>
            </a:r>
            <a:br/>
            <a:r>
              <a:t>AFL++ instrumented + 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645920"/>
            <a:ext cx="2148840" cy="3840480"/>
          </a:xfrm>
          <a:prstGeom prst="rect">
            <a:avLst/>
          </a:prstGeom>
          <a:solidFill>
            <a:srgbClr val="22223A"/>
          </a:solidFill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0E0E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20"/>
            <a:ext cx="1874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24 campaigns (~10h)</a:t>
            </a:r>
            <a:br/>
            <a:r>
              <a:t>40K bitmap snapshots</a:t>
            </a:r>
            <a:br/>
            <a:r>
              <a:t>3.4 GB telemetry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645920"/>
            <a:ext cx="2148840" cy="3840480"/>
          </a:xfrm>
          <a:prstGeom prst="rect">
            <a:avLst/>
          </a:prstGeom>
          <a:solidFill>
            <a:srgbClr val="22223A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737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D6A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1031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Differential</a:t>
            </a:r>
            <a:br/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017520"/>
            <a:ext cx="1874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Mann-Whitney U test</a:t>
            </a:r>
            <a:br/>
            <a:r>
              <a:t>A12 effect size ranking</a:t>
            </a:r>
            <a:br/>
            <a:r>
              <a:t>13 features selected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645920"/>
            <a:ext cx="2148840" cy="3840480"/>
          </a:xfrm>
          <a:prstGeom prst="rect">
            <a:avLst/>
          </a:prstGeom>
          <a:solidFill>
            <a:srgbClr val="22223A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737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16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031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Implement</a:t>
            </a:r>
            <a:br/>
            <a:r>
              <a:t>M3_0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017520"/>
            <a:ext cx="1874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C mutator rewrite</a:t>
            </a:r>
            <a:br/>
            <a:r>
              <a:t>Python model rewrite</a:t>
            </a:r>
            <a:br/>
            <a:r>
              <a:t>128-byte SHM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645920"/>
            <a:ext cx="2148840" cy="3840480"/>
          </a:xfrm>
          <a:prstGeom prst="rect">
            <a:avLst/>
          </a:prstGeom>
          <a:solidFill>
            <a:srgbClr val="22223A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737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76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1031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Train &amp; 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17520"/>
            <a:ext cx="1874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500K steps training</a:t>
            </a:r>
            <a:br/>
            <a:r>
              <a:t>5 eval runs × 4 variants</a:t>
            </a:r>
            <a:br/>
            <a:r>
              <a:t>2 targets (in-dist + transfer)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Target Construction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Calibri"/>
              </a:defRPr>
            </a:pPr>
            <a:r>
              <a:t>Building the differential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CVE Selection &amp; Target Construction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libxml2 Tag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CVE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Vulnerability Class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xml005_buggy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v2.9.4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CVE-2017-5130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Integer overflow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xmlMemStrdupLoc()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xml005_fixed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v2.9.5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(patched)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xml017_buggy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v2.9.3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CVE-2016-1762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Heap buffer overread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xmlNextChar()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xml017_fixed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v2.9.4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(patched)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31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Why these two CVEs?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Different vulnerability classes → tests whether features capture general structural properties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Different libxml2 subsystems (memory management vs parser internals)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Both statically verified: buggy code contains vulnerability, fixed code contains patch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AAAAAA"/>
                </a:solidFill>
                <a:latin typeface="Calibri"/>
              </a:defRPr>
            </a:pPr>
            <a:r>
              <a:t>Build: AFL++ instrumentation + ASAN, unmodified FuzzBench harness (byte-identical provenance)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Telemetry Collection Campaign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(2 CVEs × buggy/fixed)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Seeds per target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 (from 38-file FuzzBench corpus)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runs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 (12 telemetry + 12 baseline)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~9.7 hours per run (until saturation)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Execs per run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33–45 million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 interval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Every 1,000 execs (17-column CSV)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Snapshot interval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Every 10,000 execs (65KB bitmap)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data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~3.4 GB (40,000 snapshots + CSVs)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Telemetry mutator design: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Uniform random mutation selection (no RL)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Isolates data collection from learning effects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17 metrics per step: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Coverage: total_edges, new_edges, discovery_rate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Edge heat: hot/warm/cool/cold classification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Distribution: entropy, hit_mean, hit_std, hit_max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Execution: avg_exec_time, corpus_size, crashes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Cumulative bitmap via max-merge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Saturation results: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xml005: 5,371 ± 26 (buggy) vs 5,165 ± 9 (fixed)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xml017: 5,784 ± 32 (buggy) vs 5,488 ± 41 (fixed)</a:t>
            </a:r>
          </a:p>
          <a:p>
            <a:pPr>
              <a:spcBef>
                <a:spcPts val="400"/>
              </a:spcBef>
              <a:defRPr sz="1400" b="0">
                <a:solidFill>
                  <a:srgbClr val="06D6A0"/>
                </a:solidFill>
                <a:latin typeface="Calibri"/>
              </a:defRPr>
            </a:pPr>
            <a:r>
              <a:t>Buggy consistently discovers more edges (+4–5%)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Differential Analysis &amp; Feature 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Calibri"/>
              </a:defRPr>
            </a:pPr>
            <a:r>
              <a:t>From raw telemetry to 13-dimensional state vector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Statistical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Mann-Whitney U Test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Non-parametric comparison of buggy vs fixed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With n=3 per group: min p-value = 0.05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Bonferroni threshold: α = 0.05/65 ≈ 0.00077</a:t>
            </a:r>
          </a:p>
          <a:p>
            <a:pPr>
              <a:spcBef>
                <a:spcPts val="400"/>
              </a:spcBef>
              <a:defRPr sz="1500" b="0">
                <a:solidFill>
                  <a:srgbClr val="FFD166"/>
                </a:solidFill>
                <a:latin typeface="Calibri"/>
              </a:defRPr>
            </a:pPr>
            <a:r>
              <a:t>Nothing passes → expected, not a flaw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B4D8"/>
                </a:solidFill>
                <a:latin typeface="Calibri"/>
              </a:defRPr>
            </a:pPr>
            <a:r>
              <a:t>Vargha-Delaney A12 Effect Size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A12 = P(X_buggy &gt; X_fixed) + 0.5 · P(equal)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|A12 - 0.5| ≥ 0.21: large effect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|A12 - 0.5| ≥ 0.14: medium effect</a:t>
            </a:r>
          </a:p>
          <a:p>
            <a:pPr>
              <a:spcBef>
                <a:spcPts val="400"/>
              </a:spcBef>
              <a:defRPr sz="1500" b="0">
                <a:solidFill>
                  <a:srgbClr val="06D6A0"/>
                </a:solidFill>
                <a:latin typeface="Calibri"/>
              </a:defRPr>
            </a:pPr>
            <a:r>
              <a:t>Does not depend on sample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Why A12 over p-values?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p-value answers: "Are we confident it differs?"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A12 answers: "How often does it differ?"</a:t>
            </a:r>
          </a:p>
          <a:p>
            <a:pPr>
              <a:spcBef>
                <a:spcPts val="400"/>
              </a:spcBef>
              <a:defRPr sz="1500" b="0">
                <a:solidFill>
                  <a:srgbClr val="06D6A0"/>
                </a:solidFill>
                <a:latin typeface="Calibri"/>
              </a:defRPr>
            </a:pPr>
            <a:r>
              <a:t>For feature selection, magnitude &gt; certainty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B4D8"/>
                </a:solidFill>
                <a:latin typeface="Calibri"/>
              </a:defRPr>
            </a:pPr>
            <a:r>
              <a:t>Divergence Detection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Interpolate curves to 500 common exec points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Pooled std: √(((n_b-1)·σ_b² + (n_f-1)·σ_f²) / (n_b+n_f-2))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Divergence: |mean_b - mean_f| &gt; pooled_std for ≥5 consecutive points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Differential Analysis: Key Findings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CVE Pair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Divergence Point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Buggy Final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Fixed Final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Δ Edges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xml005 (integer overflow)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3,486 execs (early)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5,371 ± 26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5,165 ± 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+206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xml017 (heap overread)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238,453 execs (late)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5,784 ± 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5,488 ± 41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+296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Coverage divergence: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Buggy versions discover more edges (+4–5%)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Bug-adjacent code creates additional reachable paths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xml005 diverges immediately (overflow on hot path)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xml017 diverges late (needs specific UTF-8 sequences)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Mutation effectiveness differs by bug class: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xml005: Arithmetic mutations dominate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ARITH_SUB4LE (2.2×), HAVOC_ARITH16BE (2.1×)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xml017: Dictionary/structural mutations dominate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HAVOC_INT32 (1.8×), FLIP_2BITS (1.6×)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00B4D8"/>
                </a:solidFill>
                <a:latin typeface="Calibri"/>
              </a:defRPr>
            </a:pPr>
            <a:r>
              <a:t>Crash differential:</a:t>
            </a:r>
          </a:p>
          <a:p>
            <a:pPr>
              <a:spcBef>
                <a:spcPts val="400"/>
              </a:spcBef>
              <a:defRPr sz="1400" b="0">
                <a:solidFill>
                  <a:srgbClr val="06D6A0"/>
                </a:solidFill>
                <a:latin typeface="Calibri"/>
              </a:defRPr>
            </a:pPr>
            <a:r>
              <a:t>xml005: 278 vs 0 (clean signal)</a:t>
            </a:r>
          </a:p>
          <a:p>
            <a:pPr>
              <a:spcBef>
                <a:spcPts val="400"/>
              </a:spcBef>
              <a:defRPr sz="1400" b="0">
                <a:solidFill>
                  <a:srgbClr val="FFD166"/>
                </a:solidFill>
                <a:latin typeface="Calibri"/>
              </a:defRPr>
            </a:pPr>
            <a:r>
              <a:t>xml017: 97 vs 87 (noisy — ASAN catches non-CVE issues)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13-Feature State Vector: Ranked by Effect Size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592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A12 Dev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Key Insight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0.389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Strongest discriminator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cold_edges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0.267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Frontier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Unexplored code remaining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corpus_size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0.244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Productivity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Interesting inputs found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hot_edges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0.244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Heavily-exercised concentration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cool_edges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0.233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Lightly-touched discovery edge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avg_exec_time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0.222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Timing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Bug-adjacent timing anomalies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edge_hit_mean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0.211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Depth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Average execution depth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warm_edges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Transition zone branches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edge_hit_std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Distribution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Execution profile variance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edge_entropy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0.189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Distribution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 shape (Shannon)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crashes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0.133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Reward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 but noisy bug signal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0.0*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Reward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Essential RL feedback signal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coverage_velocity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0.0*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Temporal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Exploration vs exploitation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* Zero discriminative power but included as essential RL learning signals (not meant to distinguish buggy/fixed)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Why These Features Generalize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Features capture structural properties of code exploration, not target-specific patterns: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defRPr sz="1700" b="1">
                <a:solidFill>
                  <a:srgbClr val="06D6A0"/>
                </a:solidFill>
                <a:latin typeface="Calibri"/>
              </a:defRPr>
            </a:pPr>
            <a:r>
              <a:t>Edge heat distribution (hot/warm/cool/cold ratios)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Any vulnerability creates reachable code paths that shift the heat distribution — more error handlers, fallthrough cases, reachable code</a:t>
            </a:r>
          </a:p>
          <a:p>
            <a:pPr algn="l">
              <a:spcBef>
                <a:spcPts val="1400"/>
              </a:spcBef>
              <a:defRPr sz="1700" b="1">
                <a:solidFill>
                  <a:srgbClr val="06D6A0"/>
                </a:solidFill>
                <a:latin typeface="Calibri"/>
              </a:defRPr>
            </a:pPr>
            <a:r>
              <a:t>Shannon entropy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Compact summary of how evenly execution effort is distributed. Bug-adjacent code creates "hot spots" that reduce entropy</a:t>
            </a:r>
          </a:p>
          <a:p>
            <a:pPr algn="l">
              <a:spcBef>
                <a:spcPts val="1400"/>
              </a:spcBef>
              <a:defRPr sz="1700" b="1">
                <a:solidFill>
                  <a:srgbClr val="06D6A0"/>
                </a:solidFill>
                <a:latin typeface="Calibri"/>
              </a:defRPr>
            </a:pPr>
            <a:r>
              <a:t>Execution time (EMA)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Vulnerability-adjacent code involves additional processing (error handling, memory ops) creating measurable timing anomalies</a:t>
            </a:r>
          </a:p>
          <a:p>
            <a:pPr algn="l">
              <a:spcBef>
                <a:spcPts val="1400"/>
              </a:spcBef>
              <a:defRPr sz="1700" b="1">
                <a:solidFill>
                  <a:srgbClr val="06D6A0"/>
                </a:solidFill>
                <a:latin typeface="Calibri"/>
              </a:defRPr>
            </a:pPr>
            <a:r>
              <a:t>Coverage velocity (ring buffer)</a:t>
            </a:r>
          </a:p>
          <a:p>
            <a:pPr>
              <a:spcBef>
                <a:spcPts val="400"/>
              </a:spcBef>
              <a:defRPr sz="1400" b="0">
                <a:solidFill>
                  <a:srgbClr val="DDDDDD"/>
                </a:solidFill>
                <a:latin typeface="Calibri"/>
              </a:defRPr>
            </a:pPr>
            <a:r>
              <a:t>Rate of discovery changes as the fuzzer explores different regions of the code graph — temporal exploration signal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FD166"/>
                </a:solidFill>
                <a:latin typeface="Calibri"/>
              </a:defRPr>
            </a:pPr>
            <a:r>
              <a:t>Tested via transfer evaluation: train on xml005 (integer overflow), evaluate on xml017 (heap overread)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M3_0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Calibri"/>
              </a:defRPr>
            </a:pPr>
            <a:r>
              <a:t>From feature spec to running 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SHM Layout (128 bytes) &amp; Normalization Split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119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Offset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Normalized In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Normalization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state_seq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Sequence counter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 65536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cold_edges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 65536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hot_edges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 max(total, 1)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warm_edges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 max(total, 1)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cool_edges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 max(total, 1)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edge_entropy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 3.0 (max log₂ 8)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edge_hit_mean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 255.0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edge_hit_std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 255.0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corpus_size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log1p / log1p(10000)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crashes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log1p / log1p(1000)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new_edges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min(n,100) / 100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avg_exec_time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log1p / log1p(100000)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coverage_velocity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min(v/0.1, 1.0)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action_seq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Sequence counter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119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0–46 (47 mutations)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Training &amp; Evaluation Results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Evaluation Protocol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Training Target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Training Steps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DQN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Double DQN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xml005_buggy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Bandit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Thompson Sampling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xml005_buggy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M1_0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M1_0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Double DQN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xml005_buggy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AFL++ default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23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Evaluation: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5 runs per variant per target (for statistical significance)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500,000 eval steps with frozen policy (ε = 0.01)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xml005_buggy: in-distribution (same target as training)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xml017_buggy: transfer (different CVE, tests generalization)</a:t>
            </a:r>
          </a:p>
          <a:p>
            <a:pPr>
              <a:spcBef>
                <a:spcPts val="400"/>
              </a:spcBef>
              <a:defRPr sz="1600" b="0">
                <a:solidFill>
                  <a:srgbClr val="DDDDDD"/>
                </a:solidFill>
                <a:latin typeface="Calibri"/>
              </a:defRPr>
            </a:pPr>
            <a:r>
              <a:t>Plateau detection disabled → all variants train exactly 500K steps (fair comparison)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Results: xml005_buggy (In-Distribution)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1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2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3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4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5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Mean ± Std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DQN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3,945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3,940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4,010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3,927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3,962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3,957 ± 31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Bandit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3,629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3,677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3,644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3,674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3,633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3,651 ± 22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M1_0 (DQN)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3,608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3,631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3,570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3,528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3,591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3,586 ± 38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AFL++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4,320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4,030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4,324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4,273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4,302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4,250 ± 126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3840480"/>
          <a:ext cx="9144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Results: xml017_buggy (Transfer)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1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2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3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4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Run 5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Mean ± Std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DQN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3,910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3,876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3,905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3,913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3,893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3,899 ± 15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Bandit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3,603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3,588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3,574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3,601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3,625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3,598 ± 19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M1_0 (DQN)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3,588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3,577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3,540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3,557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3,572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3,567 ± 18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AFL++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3,973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4,303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4,298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4,314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3,982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4,174 ± 173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3840480"/>
          <a:ext cx="9144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Pairwise Comparisons &amp; Variance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Comparison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xml005 Δ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xml005 %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xml017 Δ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xml017 %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DQN vs M1_0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+371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+10.3%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+332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+9.3%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Bandit vs M1_0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+65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+1.8%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+31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+0.9%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DQN vs Baseline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−293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−6.9%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−275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−6.6%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8404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xml005 CV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xml017 CV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DQN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0.79%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0.38%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Most stable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M3_0 Bandit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0.60%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0.53%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M1_0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0.51%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AFL++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2.96%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4.15%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Most variable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CV = coefficient of variation (std/mean). RL models produce far more consistent results than the stochastic baseline.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Analysis &amp; Discussion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D6A0"/>
                </a:solidFill>
                <a:latin typeface="Calibri"/>
              </a:defRPr>
            </a:pPr>
            <a:r>
              <a:t>1. Differential features outperform hand-designed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+10.3% over M1_0 on in-distribution, +9.3% on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Consistent across all runs (no confidence interval overlap)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402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Validates: empirically-derived &gt; intuition-designed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D6A0"/>
                </a:solidFill>
                <a:latin typeface="Calibri"/>
              </a:defRPr>
            </a:pPr>
            <a:r>
              <a:t>2. Transfer generalization 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7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9.3% improvement on unseen xml017 (only slightly less than 10.3% on xml005)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461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Structural features (heat, entropy, timing) are not target-specific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59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76F"/>
                </a:solidFill>
                <a:latin typeface="Calibri"/>
              </a:defRPr>
            </a:pPr>
            <a:r>
              <a:t>3. Policy collapse remains the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All RL variants underperform vanilla AFL++ by 7–14%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51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DQN converges to single dominant action during eval (action 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Loses mutation diversity that AFL++'s heuristic scheduling maintains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166"/>
                </a:solidFill>
                <a:latin typeface="Calibri"/>
              </a:defRPr>
            </a:pPr>
            <a:r>
              <a:t>4. DQN &gt; Bandit in sparse-reward regime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577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DQN: 3,957 / 3,899  vs  Bandit: 3,651 / 3,598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5321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Bandit lacks temporal credit assignment (treats steps independently)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8064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Calibri"/>
              </a:defRPr>
            </a:pPr>
            <a:r>
              <a:t>•  Thompson sampling exploration &lt; ε-greedy diversity in this setting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Why Does Baseline Still Win? Policy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76F"/>
                </a:solidFill>
                <a:latin typeface="Calibri"/>
              </a:defRPr>
            </a:pPr>
            <a:r>
              <a:t>The problem: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DQN learns to favor action 10 (ARITH_SUB2LE)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During eval (ε=0.01), picks this action ~90% of the time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Loses the mutation diversity that finds new coverage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FFD166"/>
                </a:solidFill>
                <a:latin typeface="Calibri"/>
              </a:defRPr>
            </a:pPr>
            <a:r>
              <a:t>Root causes: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Sparse rewards: new edges become rare at saturation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Credit assignment: γ=0.99 attributes reward to recent actions, but fuzzing causality spans many executions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Greedy eval: ε=0.01 near-deterministic action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What AFL++ does differently: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Power schedules (explore/exploit scheduling)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Queue culling (favors small, fast inputs)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Deterministic + havoc stages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Splice mutations across corpus</a:t>
            </a:r>
          </a:p>
          <a:p>
            <a:pPr>
              <a:spcBef>
                <a:spcPts val="400"/>
              </a:spcBef>
              <a:defRPr sz="1500" b="0">
                <a:solidFill>
                  <a:srgbClr val="06D6A0"/>
                </a:solidFill>
                <a:latin typeface="Calibri"/>
              </a:defRPr>
            </a:pPr>
            <a:r>
              <a:t>Maintains diversity throughout campaign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insight:</a:t>
            </a:r>
          </a:p>
          <a:p>
            <a:pPr>
              <a:spcBef>
                <a:spcPts val="400"/>
              </a:spcBef>
              <a:defRPr sz="1500" b="0">
                <a:solidFill>
                  <a:srgbClr val="DDDDDD"/>
                </a:solidFill>
                <a:latin typeface="Calibri"/>
              </a:defRPr>
            </a:pPr>
            <a:r>
              <a:t>The RL agent replaces ALL of this with a single argmax over 47 actions</a:t>
            </a:r>
          </a:p>
          <a:p>
            <a:pPr>
              <a:spcBef>
                <a:spcPts val="400"/>
              </a:spcBef>
              <a:defRPr sz="1500" b="0">
                <a:solidFill>
                  <a:srgbClr val="06D6A0"/>
                </a:solidFill>
                <a:latin typeface="Calibri"/>
              </a:defRPr>
            </a:pPr>
            <a:r>
              <a:t>Better approach: modulate AFL++'s scheduler, not replace 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Proposed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B4D8"/>
                </a:solidFill>
                <a:latin typeface="Calibri"/>
              </a:defRPr>
            </a:pPr>
            <a:r>
              <a:t>Address policy collapse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Entropy regularization: add entropy bonus to reward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2996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Action diversity constraints: minimum usage rate per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22575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Higher eval ε (e.g., 0.1) to maintain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5234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6D6A0"/>
                </a:solidFill>
                <a:latin typeface="Calibri"/>
              </a:defRPr>
            </a:pPr>
            <a:r>
              <a:t>Hybrid scheduling (M4 direction)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18103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Use RL to modulate AFL++'s existing scheduler, not replace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1071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Agent adjusts power schedules, mutation stage weights, queue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033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Preserves AFL++'s proven heuristics while adding learned 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D166"/>
                </a:solidFill>
                <a:latin typeface="Calibri"/>
              </a:defRPr>
            </a:pPr>
            <a:r>
              <a:t>Better credit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988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Reward shaping based on coverage velocity / entropy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914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Intrinsic motivation (curiosity-driven exploration)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840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Longer-horizon algorithms (PPO, reward redistribution)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13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90E0EF"/>
                </a:solidFill>
                <a:latin typeface="Calibri"/>
              </a:defRPr>
            </a:pPr>
            <a:r>
              <a:t>Broader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8795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Train on multiple targets simultaneously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6172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Test on completely different software (not just libxml2)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6464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•  Larger seed budget (n &gt; 3) for stronger statistical claims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 differential fuzzing pipeline: 4 libxml2 targets, 24 campaigns, 3.4 GB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Derived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13-feature state vector from buggy vs fixed comparison using A12 effect size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M3_0 mutator (C) + model (Python) with 128-byte SHM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Trained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DQN and contextual bandit variants, 500K steps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M3_0 DQN achieves +10.3% over M1_0 (in-dist) and +9.3% (transfer)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7091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Baseline AFL++ still leads by ~7% due to policy collapse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2120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Address collapse via hybrid scheduling / entropy regularization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